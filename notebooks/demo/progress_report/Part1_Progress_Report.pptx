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51960"/>
            <a:ext cx="12191695" cy="54864"/>
          </a:xfrm>
          <a:prstGeom prst="rect">
            <a:avLst/>
          </a:prstGeom>
          <a:solidFill>
            <a:srgbClr val="2E8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9FC6D9"/>
                </a:solidFill>
                <a:latin typeface="Calibri"/>
              </a:rPr>
              <a:t>COMP0190 · 3D Organ Shape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1 Progress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D8E3EF"/>
                </a:solidFill>
                <a:latin typeface="Calibri"/>
              </a:rPr>
              <a:t>Inference and Preliminary Analysis of Skull Completion</a:t>
            </a:r>
          </a:p>
          <a:p>
            <a:pPr algn="l">
              <a:lnSpc>
                <a:spcPct val="120000"/>
              </a:lnSpc>
            </a:pPr>
            <a:r>
              <a:rPr sz="2100" b="0">
                <a:solidFill>
                  <a:srgbClr val="D8E3EF"/>
                </a:solidFill>
                <a:latin typeface="Calibri"/>
              </a:rPr>
              <a:t>Using the Existing MSN Pre-trained Weights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7D6E8"/>
                </a:solidFill>
                <a:latin typeface="Calibri"/>
              </a:rPr>
              <a:t>Student: Qi Jinyu      Supervisor: Petru Manescu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FB4CC"/>
                </a:solidFill>
                <a:latin typeface="Calibri"/>
              </a:rPr>
              <a:t>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2E8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Method: Inference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7D6E8"/>
                </a:solidFill>
                <a:latin typeface="Calibri"/>
              </a:rPr>
              <a:t>MSN pre-trained model (PCT encoder-decoder + BERT text condition), used as-is — no retraining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606040" cy="16459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606040" cy="73152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72768"/>
            <a:ext cx="22768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1. Data prep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65960"/>
            <a:ext cx="227685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5F6B"/>
                </a:solidFill>
                <a:latin typeface="Calibri"/>
              </a:rPr>
              <a:t>Load .ply skull cloud,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5F6B"/>
                </a:solidFill>
                <a:latin typeface="Calibri"/>
              </a:rPr>
              <a:t>normalize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28960" y="2075688"/>
            <a:ext cx="188600" cy="237744"/>
          </a:xfrm>
          <a:prstGeom prst="rightArrow">
            <a:avLst/>
          </a:prstGeom>
          <a:solidFill>
            <a:srgbClr val="5A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606040" cy="16459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2606040" cy="73152"/>
          </a:xfrm>
          <a:prstGeom prst="rect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1572768"/>
            <a:ext cx="22768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2. Sampling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1965960"/>
            <a:ext cx="227685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5F6B"/>
                </a:solidFill>
                <a:latin typeface="Calibri"/>
              </a:rPr>
              <a:t>FPS to 4096 (input)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5F6B"/>
                </a:solidFill>
                <a:latin typeface="Calibri"/>
              </a:rPr>
              <a:t>/ 6144 (GT) points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3600" y="2075688"/>
            <a:ext cx="188600" cy="237744"/>
          </a:xfrm>
          <a:prstGeom prst="rightArrow">
            <a:avLst/>
          </a:prstGeom>
          <a:solidFill>
            <a:srgbClr val="5A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371600"/>
            <a:ext cx="2606040" cy="16459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371600"/>
            <a:ext cx="2606040" cy="73152"/>
          </a:xfrm>
          <a:prstGeom prst="rect">
            <a:avLst/>
          </a:prstGeom>
          <a:solidFill>
            <a:srgbClr val="2E8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1572768"/>
            <a:ext cx="22768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3. Inference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1965960"/>
            <a:ext cx="227685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5F6B"/>
                </a:solidFill>
                <a:latin typeface="Calibri"/>
              </a:rPr>
              <a:t>PCT + BERT features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5F6B"/>
                </a:solidFill>
                <a:latin typeface="Calibri"/>
              </a:rPr>
              <a:t>→ cross-attn decoder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98240" y="2075688"/>
            <a:ext cx="188600" cy="237744"/>
          </a:xfrm>
          <a:prstGeom prst="rightArrow">
            <a:avLst/>
          </a:prstGeom>
          <a:solidFill>
            <a:srgbClr val="5A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1371600"/>
            <a:ext cx="2606040" cy="16459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371600"/>
            <a:ext cx="2606040" cy="73152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1572768"/>
            <a:ext cx="22768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4.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1965960"/>
            <a:ext cx="227685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5F6B"/>
                </a:solidFill>
                <a:latin typeface="Calibri"/>
              </a:rPr>
              <a:t>Completed skull,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5F6B"/>
                </a:solidFill>
                <a:latin typeface="Calibri"/>
              </a:rPr>
              <a:t>6144 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3375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B2A4A"/>
                </a:solidFill>
                <a:latin typeface="Calibri"/>
              </a:rPr>
              <a:t>Key points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79476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222428"/>
                </a:solidFill>
                <a:latin typeface="Calibri"/>
              </a:rPr>
              <a:t>▪ Weights reused as-is from MSN_weights3.h5 — no architecture change, no retraining at this stage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22428"/>
                </a:solidFill>
                <a:latin typeface="Calibri"/>
              </a:rPr>
              <a:t>▪ Inference on skull point clouds converted through our own pipeline (paired SkullFix incomplete/complete data)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22428"/>
                </a:solidFill>
                <a:latin typeface="Calibri"/>
              </a:rPr>
              <a:t>▪ Batch evaluation run on CPU: this machine's 24GB GPU memory is nearly filled by BERT+PCT, so CPU guarantees stable completion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F6B"/>
                </a:solidFill>
                <a:latin typeface="Calibri"/>
              </a:rPr>
              <a:t>COMP0190 · 3D Organ Shape Completion — Part 1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F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2E8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Qualitative Check: skull_000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7D6E8"/>
                </a:solidFill>
                <a:latin typeface="Calibri"/>
              </a:rPr>
              <a:t>Direct exports from the inference notebook</a:t>
            </a:r>
          </a:p>
        </p:txBody>
      </p:sp>
      <p:pic>
        <p:nvPicPr>
          <p:cNvPr id="6" name="Picture 5" descr="skull_000_partial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30680"/>
            <a:ext cx="3657600" cy="304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2578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1B2A4A"/>
                </a:solidFill>
                <a:latin typeface="Calibri"/>
              </a:rPr>
              <a:t>Incomplete input</a:t>
            </a:r>
          </a:p>
        </p:txBody>
      </p:sp>
      <p:pic>
        <p:nvPicPr>
          <p:cNvPr id="8" name="Picture 7" descr="skull_000_predi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630680"/>
            <a:ext cx="3657600" cy="304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60520" y="52578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1B2A4A"/>
                </a:solidFill>
                <a:latin typeface="Calibri"/>
              </a:rPr>
              <a:t>Model prediction (6144 pts)</a:t>
            </a:r>
          </a:p>
        </p:txBody>
      </p:sp>
      <p:pic>
        <p:nvPicPr>
          <p:cNvPr id="10" name="Picture 9" descr="skull_000_completion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630680"/>
            <a:ext cx="3657600" cy="304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0" y="52578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1B2A4A"/>
                </a:solidFill>
                <a:latin typeface="Calibri"/>
              </a:rPr>
              <a:t>Overlay: prediction (vivid) + input (pale)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8064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22428"/>
                </a:solidFill>
                <a:latin typeface="Calibri"/>
              </a:rPr>
              <a:t>▪ Overall skull outline is recovered; the input already covers most of the surface, with a small, localized region filled in by the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F6B"/>
                </a:solidFill>
                <a:latin typeface="Calibri"/>
              </a:rPr>
              <a:t>COMP0190 · 3D Organ Shape Completion — Part 1 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F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2E8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Quantitative Results &amp; What They Mean (50 samples)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7D6E8"/>
                </a:solidFill>
                <a:latin typeface="Calibri"/>
              </a:rPr>
              <a:t>Same Chamfer / Density-aware Chamfer metrics used as the training loss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53949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9728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Mean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Std Dev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Min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Max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428"/>
                          </a:solidFill>
                        </a:rPr>
                        <a:t>CD_p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428"/>
                          </a:solidFill>
                        </a:rPr>
                        <a:t>0.2203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428"/>
                          </a:solidFill>
                        </a:rPr>
                        <a:t>0.0101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428"/>
                          </a:solidFill>
                        </a:rPr>
                        <a:t>0.1980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428"/>
                          </a:solidFill>
                        </a:rPr>
                        <a:t>0.2431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428"/>
                          </a:solidFill>
                        </a:rPr>
                        <a:t>CD_t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428"/>
                          </a:solidFill>
                        </a:rPr>
                        <a:t>0.0976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428"/>
                          </a:solidFill>
                        </a:rPr>
                        <a:t>0.0088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428"/>
                          </a:solidFill>
                        </a:rPr>
                        <a:t>0.0790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428"/>
                          </a:solidFill>
                        </a:rPr>
                        <a:t>0.1186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428"/>
                          </a:solidFill>
                        </a:rPr>
                        <a:t>DCD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428"/>
                          </a:solidFill>
                        </a:rPr>
                        <a:t>1.4317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428"/>
                          </a:solidFill>
                        </a:rPr>
                        <a:t>0.0212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428"/>
                          </a:solidFill>
                        </a:rPr>
                        <a:t>1.3918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428"/>
                          </a:solidFill>
                        </a:rPr>
                        <a:t>1.5149</a:t>
                      </a:r>
                    </a:p>
                  </a:txBody>
                  <a:tcPr anchor="ctr"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278892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868F"/>
                </a:solidFill>
                <a:latin typeface="Calibri"/>
              </a:rPr>
              <a:t>Reading the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5468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>
                <a:solidFill>
                  <a:srgbClr val="222428"/>
                </a:solidFill>
                <a:latin typeface="Calibri"/>
              </a:rPr>
              <a:t>▪ Consistent but weak — small std devs mean uniformly mediocre, not unstable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222428"/>
                </a:solidFill>
                <a:latin typeface="Calibri"/>
              </a:rPr>
              <a:t>▪ CD_p ≈ 0.22 is ~22% of the unit-normalized shape radius; DCD ≈ 1.43 sits ~71% up its 0–2 range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222428"/>
                </a:solidFill>
                <a:latin typeface="Calibri"/>
              </a:rPr>
              <a:t>▪ CD–DCD gap points at uneven point density (clustered points), not just geometric error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222428"/>
                </a:solidFill>
                <a:latin typeface="Calibri"/>
              </a:rPr>
              <a:t>▪ Pipeline reproduces end-to-end, but these weights are not yet a usable skull-completion baseline</a:t>
            </a:r>
          </a:p>
        </p:txBody>
      </p:sp>
      <p:pic>
        <p:nvPicPr>
          <p:cNvPr id="9" name="Picture 8" descr="skullfix_metric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14780"/>
            <a:ext cx="5577840" cy="40284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5623560"/>
            <a:ext cx="11155680" cy="7315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623560"/>
            <a:ext cx="73152" cy="7315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742432"/>
            <a:ext cx="10744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22428"/>
                </a:solidFill>
                <a:latin typeface="Calibri"/>
              </a:rPr>
              <a:t>Main cause (verified in code): training synthesizes defects by removing a kNN patch from the complete shape, never reading the real incomplete files — a domain gap, not a broken pipeline.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F6B"/>
                </a:solidFill>
                <a:latin typeface="Calibri"/>
              </a:rPr>
              <a:t>COMP0190 · 3D Organ Shape Completion — Part 1 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F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2E8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What Was Changed in the Training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7D6E8"/>
                </a:solidFill>
                <a:latin typeface="Calibri"/>
              </a:rPr>
              <a:t>Rewrite of the released MSN training demo so the published architecture trains from scratch on a single GPU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5F6B"/>
                </a:solidFill>
                <a:latin typeface="Calibri"/>
              </a:rPr>
              <a:t>COMP0190 · 3D Organ Shape Completion — Part 2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A5F6B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E868F"/>
                </a:solidFill>
                <a:latin typeface="Calibri"/>
              </a:rPr>
              <a:t>Data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73736" indent="-173736">
              <a:spcAft>
                <a:spcPts val="9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▪ Paired normalisation: a single transform derived from the defective skull is applied to both clouds. Previously each was normalised independently, which placed a matched pair in two different coordinate frames.</a:t>
            </a:r>
          </a:p>
          <a:p>
            <a:pPr algn="l" marL="173736" indent="-173736">
              <a:spcAft>
                <a:spcPts val="9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▪ Voxel spacing from the nrrd header is now applied, so geometry is in millimetres rather than voxel indices.</a:t>
            </a:r>
          </a:p>
          <a:p>
            <a:pPr algn="l" marL="173736" indent="-173736">
              <a:spcAft>
                <a:spcPts val="9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▪ 50 SkullFix pairs regenerated from the source nrrd into a cached .npz, split by skull 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E868F"/>
                </a:solidFill>
                <a:latin typeface="Calibri"/>
              </a:rPr>
              <a:t>Model and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4592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73736" indent="-173736">
              <a:spcAft>
                <a:spcPts val="9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▪ Distance kernels rewritten — verified bit-identical to the original.</a:t>
            </a:r>
          </a:p>
          <a:p>
            <a:pPr algn="l" marL="173736" indent="-173736">
              <a:spcAft>
                <a:spcPts val="9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▪ Loss changed from DCD alone to Chamfer + DCD.</a:t>
            </a:r>
          </a:p>
          <a:p>
            <a:pPr algn="l" marL="173736" indent="-173736">
              <a:spcAft>
                <a:spcPts val="9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▪ Learning rate 1e-7 → 3e-4 with warm-up; batch size 8 → 4.</a:t>
            </a:r>
          </a:p>
          <a:p>
            <a:pPr algn="l" marL="173736" indent="-173736">
              <a:spcAft>
                <a:spcPts val="9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▪ Frozen BERT branch precomputed (single class gives a constant output).</a:t>
            </a:r>
          </a:p>
          <a:p>
            <a:pPr algn="l" marL="173736" indent="-173736">
              <a:spcAft>
                <a:spcPts val="9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▪ Centroid sampling without replacement, and deterministic at inference so evaluation is reproducible.</a:t>
            </a:r>
          </a:p>
          <a:p>
            <a:pPr algn="l" marL="173736" indent="-173736">
              <a:spcAft>
                <a:spcPts val="9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▪ Checkpoints saved weights-only (2.25 GB → 750 MB per file).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983480"/>
            <a:ext cx="11155680" cy="7315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4983480"/>
            <a:ext cx="73152" cy="7315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102352"/>
            <a:ext cx="10744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2428"/>
                </a:solidFill>
                <a:latin typeface="Calibri"/>
              </a:rPr>
              <a:t>Architecture unchanged. The model trained here is the published one — 187.5 M parameters, 4096 input points → 6144 output points — trained from scratch, not a reduced stand-in.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2E8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From-Scratch Training: Setup and Quantitative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7D6E8"/>
                </a:solidFill>
                <a:latin typeface="Calibri"/>
              </a:rPr>
              <a:t>SkullFix, 40 training / 10 validation skulls, single RTX 4090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5F6B"/>
                </a:solidFill>
                <a:latin typeface="Calibri"/>
              </a:rPr>
              <a:t>COMP0190 · 3D Organ Shape Completion — Part 2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A5F6B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E868F"/>
                </a:solidFill>
                <a:latin typeface="Calibri"/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53949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73736" indent="-173736">
              <a:spcAft>
                <a:spcPts val="7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▪ Published MSN architecture, 187.5 M parameters</a:t>
            </a:r>
          </a:p>
          <a:p>
            <a:pPr algn="l" marL="173736" indent="-173736">
              <a:spcAft>
                <a:spcPts val="7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▪ Adam 3e-4 (100-step warm-up), batch 4, loss = CD + DCD</a:t>
            </a:r>
          </a:p>
          <a:p>
            <a:pPr algn="l" marL="173736" indent="-173736">
              <a:spcAft>
                <a:spcPts val="7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▪ 40 epochs in 3 minutes on one RTX 4090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1752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E868F"/>
                </a:solidFill>
                <a:latin typeface="Calibri"/>
              </a:rPr>
              <a:t>Validation set (10 skulls)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3401568"/>
          <a:ext cx="539496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1005840"/>
                <a:gridCol w="1005840"/>
                <a:gridCol w="1005840"/>
              </a:tblGrid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91440" marR="54864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91440" marR="54864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Std</a:t>
                      </a:r>
                    </a:p>
                  </a:txBody>
                  <a:tcPr marL="91440" marR="54864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91440" marR="54864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L="91440" marR="54864" marT="18288" marB="18288" anchor="ctr">
                    <a:solidFill>
                      <a:srgbClr val="1B2A4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428"/>
                          </a:solidFill>
                          <a:latin typeface="Calibri"/>
                        </a:rPr>
                        <a:t>CD_p</a:t>
                      </a:r>
                    </a:p>
                  </a:txBody>
                  <a:tcPr marL="91440" marR="54864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222428"/>
                          </a:solidFill>
                          <a:latin typeface="Calibri"/>
                        </a:rPr>
                        <a:t>0.1984</a:t>
                      </a:r>
                    </a:p>
                  </a:txBody>
                  <a:tcPr marL="91440" marR="54864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222428"/>
                          </a:solidFill>
                          <a:latin typeface="Calibri"/>
                        </a:rPr>
                        <a:t>0.0102</a:t>
                      </a:r>
                    </a:p>
                  </a:txBody>
                  <a:tcPr marL="91440" marR="54864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222428"/>
                          </a:solidFill>
                          <a:latin typeface="Calibri"/>
                        </a:rPr>
                        <a:t>0.1865</a:t>
                      </a:r>
                    </a:p>
                  </a:txBody>
                  <a:tcPr marL="91440" marR="54864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222428"/>
                          </a:solidFill>
                          <a:latin typeface="Calibri"/>
                        </a:rPr>
                        <a:t>0.2190</a:t>
                      </a:r>
                    </a:p>
                  </a:txBody>
                  <a:tcPr marL="91440" marR="54864" marT="18288" marB="18288" anchor="ctr">
                    <a:solidFill>
                      <a:srgbClr val="F2F3F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428"/>
                          </a:solidFill>
                          <a:latin typeface="Calibri"/>
                        </a:rPr>
                        <a:t>CD_t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222428"/>
                          </a:solidFill>
                          <a:latin typeface="Calibri"/>
                        </a:rPr>
                        <a:t>0.0790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222428"/>
                          </a:solidFill>
                          <a:latin typeface="Calibri"/>
                        </a:rPr>
                        <a:t>0.0083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222428"/>
                          </a:solidFill>
                          <a:latin typeface="Calibri"/>
                        </a:rPr>
                        <a:t>0.0696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222428"/>
                          </a:solidFill>
                          <a:latin typeface="Calibri"/>
                        </a:rPr>
                        <a:t>0.0960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428"/>
                          </a:solidFill>
                          <a:latin typeface="Calibri"/>
                        </a:rPr>
                        <a:t>CD_t (mm)</a:t>
                      </a:r>
                    </a:p>
                  </a:txBody>
                  <a:tcPr marL="91440" marR="54864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222428"/>
                          </a:solidFill>
                          <a:latin typeface="Calibri"/>
                        </a:rPr>
                        <a:t>8.15</a:t>
                      </a:r>
                    </a:p>
                  </a:txBody>
                  <a:tcPr marL="91440" marR="54864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222428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 marL="91440" marR="54864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222428"/>
                          </a:solidFill>
                          <a:latin typeface="Calibri"/>
                        </a:rPr>
                        <a:t>7.18</a:t>
                      </a:r>
                    </a:p>
                  </a:txBody>
                  <a:tcPr marL="91440" marR="54864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222428"/>
                          </a:solidFill>
                          <a:latin typeface="Calibri"/>
                        </a:rPr>
                        <a:t>9.90</a:t>
                      </a:r>
                    </a:p>
                  </a:txBody>
                  <a:tcPr marL="91440" marR="54864" marT="18288" marB="18288" anchor="ctr">
                    <a:solidFill>
                      <a:srgbClr val="F2F3F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428"/>
                          </a:solidFill>
                          <a:latin typeface="Calibri"/>
                        </a:rPr>
                        <a:t>DCD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222428"/>
                          </a:solidFill>
                          <a:latin typeface="Calibri"/>
                        </a:rPr>
                        <a:t>0.9660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222428"/>
                          </a:solidFill>
                          <a:latin typeface="Calibri"/>
                        </a:rPr>
                        <a:t>0.0705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222428"/>
                          </a:solidFill>
                          <a:latin typeface="Calibri"/>
                        </a:rPr>
                        <a:t>0.8826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222428"/>
                          </a:solidFill>
                          <a:latin typeface="Calibri"/>
                        </a:rPr>
                        <a:t>1.0943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p2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11680"/>
            <a:ext cx="5577840" cy="191877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26480" y="43434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5F6B"/>
                </a:solidFill>
                <a:latin typeface="Calibri"/>
              </a:rPr>
              <a:t>Training curves — validation CD_t falls from 66 mm to 8.2 mm; most of the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A5F6B"/>
                </a:solidFill>
                <a:latin typeface="Calibri"/>
              </a:rPr>
              <a:t>descent occurs within the first 20 epochs.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303520"/>
            <a:ext cx="11155680" cy="77724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5303520"/>
            <a:ext cx="73152" cy="7772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422392"/>
            <a:ext cx="10744200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2428"/>
                </a:solidFill>
                <a:latin typeface="Calibri"/>
              </a:rPr>
              <a:t>Wall-clock cost fell from the published 6 × A6000 / 6 weeks to 3 minutes on one GPU. The comparison is not like-for-like — this run uses 40 skulls, not the full MedShapeNet corpus.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2E8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Qualitative Check: skull_032 (best validation sample)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7D6E8"/>
                </a:solidFill>
                <a:latin typeface="Calibri"/>
              </a:rPr>
              <a:t>Rendered directly from the trained checkpoint — CD_t = 7.18 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5F6B"/>
                </a:solidFill>
                <a:latin typeface="Calibri"/>
              </a:rPr>
              <a:t>COMP0190 · 3D Organ Shape Completion — Part 2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A5F6B"/>
                </a:solidFill>
                <a:latin typeface="Calibri"/>
              </a:rPr>
              <a:t>7</a:t>
            </a:r>
          </a:p>
        </p:txBody>
      </p:sp>
      <p:pic>
        <p:nvPicPr>
          <p:cNvPr id="8" name="Picture 7" descr="p2_comple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3840480" cy="35372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901184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A5F6B"/>
                </a:solidFill>
                <a:latin typeface="Calibri"/>
              </a:rPr>
              <a:t>Prediction (blue) over defective input (pale red)</a:t>
            </a:r>
          </a:p>
        </p:txBody>
      </p:sp>
      <p:pic>
        <p:nvPicPr>
          <p:cNvPr id="10" name="Picture 9" descr="p2_pred_vs_g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572768"/>
            <a:ext cx="6995160" cy="31338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0" y="4901184"/>
            <a:ext cx="6995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5A5F6B"/>
                </a:solidFill>
                <a:latin typeface="Calibri"/>
              </a:rPr>
              <a:t>Prediction vs ground truth, same viewpoint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349240"/>
            <a:ext cx="11155680" cy="8686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349240"/>
            <a:ext cx="73152" cy="86868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468112"/>
            <a:ext cx="107442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2428"/>
                </a:solidFill>
                <a:latin typeface="Calibri"/>
              </a:rPr>
              <a:t>Reading: the predicted cloud matches the overall size, position and envelope of the skull, but it is diffuse — the ground truth forms a clean shell, the prediction does not yet resolve onto a surface. Chamfer distance is tolerant of this failure mode.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2E8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5486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7D6E8"/>
                </a:solidFill>
                <a:latin typeface="Calibri"/>
              </a:rPr>
              <a:t>What this run does and does not establish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5A5F6B"/>
                </a:solidFill>
                <a:latin typeface="Calibri"/>
              </a:rPr>
              <a:t>COMP0190 · 3D Organ Shape Completion — Part 2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5A5F6B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E868F"/>
                </a:solidFill>
                <a:latin typeface="Calibri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69494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73736" indent="-173736">
              <a:spcAft>
                <a:spcPts val="4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▪ Shape not yet learned. The output reproduces the envelope, not an</a:t>
            </a:r>
          </a:p>
          <a:p>
            <a:pPr algn="l" marL="173736" indent="-173736">
              <a:spcAft>
                <a:spcPts val="4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   anatomical surface, so the 8.15 mm figure overstates the visual quality.</a:t>
            </a:r>
          </a:p>
          <a:p>
            <a:pPr algn="l" marL="173736" indent="-173736">
              <a:spcAft>
                <a:spcPts val="4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▪ Under-trained. 40 epochs / 3 minutes; all three curves are still falling.</a:t>
            </a:r>
          </a:p>
          <a:p>
            <a:pPr algn="l" marL="173736" indent="-173736">
              <a:spcAft>
                <a:spcPts val="4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▪ Sample size. 40 training skulls carries no statistical weight, and</a:t>
            </a:r>
          </a:p>
          <a:p>
            <a:pPr algn="l" marL="173736" indent="-173736">
              <a:spcAft>
                <a:spcPts val="4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   SkullFix contains a single regular craniotomy defect pattern.</a:t>
            </a:r>
          </a:p>
          <a:p>
            <a:pPr algn="l" marL="173736" indent="-173736">
              <a:spcAft>
                <a:spcPts val="4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▪ Train ≈ validation here does not show absence of over-fitting: training</a:t>
            </a:r>
          </a:p>
          <a:p>
            <a:pPr algn="l" marL="173736" indent="-173736">
              <a:spcAft>
                <a:spcPts val="4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   metrics are measured under stochastic centroid sampling (augmentation),</a:t>
            </a:r>
          </a:p>
          <a:p>
            <a:pPr algn="l" marL="173736" indent="-173736">
              <a:spcAft>
                <a:spcPts val="4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   validation under the deterministic path, so the two are not comparable.</a:t>
            </a:r>
          </a:p>
          <a:p>
            <a:pPr algn="l" marL="173736" indent="-173736">
              <a:spcAft>
                <a:spcPts val="4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▪ Metrics incomplete. CD and DCD are mean-distance measures only; no</a:t>
            </a:r>
          </a:p>
          <a:p>
            <a:pPr algn="l" marL="173736" indent="-173736">
              <a:spcAft>
                <a:spcPts val="4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   Hausdorff, Dice, or boundary conformity — and for a cranial implant the</a:t>
            </a:r>
          </a:p>
          <a:p>
            <a:pPr algn="l" marL="173736" indent="-173736">
              <a:spcAft>
                <a:spcPts val="4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   fit at the defect boundary matters more than the mean.</a:t>
            </a:r>
          </a:p>
          <a:p>
            <a:pPr algn="l" marL="173736" indent="-173736">
              <a:spcAft>
                <a:spcPts val="4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▪ Output is a 6144-point cloud, not a surface mesh, so it is still one</a:t>
            </a:r>
          </a:p>
          <a:p>
            <a:pPr algn="l" marL="173736" indent="-173736">
              <a:spcAft>
                <a:spcPts val="4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   reconstruction step away from anything implantable.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18872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E868F"/>
                </a:solidFill>
                <a:latin typeface="Calibri"/>
              </a:rPr>
              <a:t>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600200"/>
            <a:ext cx="38404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73736" indent="-173736">
              <a:spcAft>
                <a:spcPts val="7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▪ Train to convergence rather</a:t>
            </a:r>
          </a:p>
          <a:p>
            <a:pPr algn="l" marL="173736" indent="-173736">
              <a:spcAft>
                <a:spcPts val="7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   than to a time budget.</a:t>
            </a:r>
          </a:p>
          <a:p>
            <a:pPr algn="l" marL="173736" indent="-173736">
              <a:spcAft>
                <a:spcPts val="7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▪ Scale to all 100 pairs, then</a:t>
            </a:r>
          </a:p>
          <a:p>
            <a:pPr algn="l" marL="173736" indent="-173736">
              <a:spcAft>
                <a:spcPts val="7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   on to SkullBreak.</a:t>
            </a:r>
          </a:p>
          <a:p>
            <a:pPr algn="l" marL="173736" indent="-173736">
              <a:spcAft>
                <a:spcPts val="7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▪ Add Hausdorff, Dice and</a:t>
            </a:r>
          </a:p>
          <a:p>
            <a:pPr algn="l" marL="173736" indent="-173736">
              <a:spcAft>
                <a:spcPts val="7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   boundary-conformity metrics,</a:t>
            </a:r>
          </a:p>
          <a:p>
            <a:pPr algn="l" marL="173736" indent="-173736">
              <a:spcAft>
                <a:spcPts val="7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   shared by both routes.</a:t>
            </a:r>
          </a:p>
          <a:p>
            <a:pPr algn="l" marL="173736" indent="-173736">
              <a:spcAft>
                <a:spcPts val="700"/>
              </a:spcAft>
            </a:pPr>
            <a:r>
              <a:rPr sz="1350" b="0">
                <a:solidFill>
                  <a:srgbClr val="222428"/>
                </a:solidFill>
                <a:latin typeface="Calibri"/>
              </a:rPr>
              <a:t>▪ Implement the voxel baseline.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532120"/>
            <a:ext cx="11155680" cy="7315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532120"/>
            <a:ext cx="73152" cy="73152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650992"/>
            <a:ext cx="10744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2428"/>
                </a:solidFill>
                <a:latin typeface="Calibri"/>
              </a:rPr>
              <a:t>The project's core question — voxel versus geometry-aware completion — is not yet answered. This stage established the geometry-aware route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