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F2A37"/>
                </a:solidFill>
                <a:latin typeface="Calibri"/>
              </a:rPr>
              <a:t>Task and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55680" cy="9525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Skull completion: 4,096 points of a defective skull in, 6,144 points of a complete skull out.</a:t>
            </a:r>
          </a:p>
          <a:p>
            <a:pPr algn="l">
              <a:spcAft>
                <a:spcPts val="13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SkullFix, 100 skulls, 80 train / 20 validation — the same split for every run reported here.</a:t>
            </a:r>
          </a:p>
          <a:p>
            <a:pPr algn="l">
              <a:spcAft>
                <a:spcPts val="13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For a reference point I ran the authors' released weights on my own data: same validation skulls, same metrics, same aligned point clouds.</a:t>
            </a:r>
          </a:p>
        </p:txBody>
      </p:sp>
      <p:pic>
        <p:nvPicPr>
          <p:cNvPr id="5" name="Picture 4" descr="pred_vs_g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239" y="1051560"/>
            <a:ext cx="5283122" cy="33832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3291840"/>
          <a:ext cx="512064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CD_t (mm)</a:t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DCD</a:t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Pretrained weights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10.71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1.428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65C0"/>
                          </a:solidFill>
                          <a:latin typeface="Calibri"/>
                        </a:rPr>
                        <a:t>This work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565C0"/>
                          </a:solidFill>
                          <a:latin typeface="Calibri"/>
                        </a:rPr>
                        <a:t>6.41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565C0"/>
                          </a:solidFill>
                          <a:latin typeface="Calibri"/>
                        </a:rPr>
                        <a:t>0.676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48920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Sanity check.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The source paper reports DCD = 1.41269 on its own validation set. The same weights measure 1.42772 on my data — a 1% match, which confirms the metric implementation and the weight loading.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673"/>
                </a:solidFill>
                <a:latin typeface="Calibri"/>
              </a:rPr>
              <a:t>It also frames the comparison honestly: their model has not failed on skulls. It performs here almost exactly as it does on its own data, so the gain comes from specialisation.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F2A37"/>
                </a:solidFill>
                <a:latin typeface="Calibri"/>
              </a:rPr>
              <a:t>Evaluation tooling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55680" cy="9525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Scatter plots cannot show whether a predicted surface is any good, so I built a reconstruction path: point cloud → distance field → marching cubes → Taubin smoothing. The original repository has none of this.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Poisson reconstruction, the usual choice, was deliberately avoided. It needs per-point normals, which are unreliable on a thin bone shell, and it tends to close holes — the one feature being inspected.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1F2A37"/>
                </a:solidFill>
                <a:latin typeface="Calibri"/>
              </a:rPr>
              <a:t>Two rules that came out of it: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673"/>
                </a:solidFill>
                <a:latin typeface="Calibri"/>
              </a:rPr>
              <a:t>Meshes are for looking, never for metrics. Reconstruction pushes the surface outward by a median of 5.3 mm, the same order as the model's own error.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5B6673"/>
                </a:solidFill>
                <a:latin typeface="Calibri"/>
              </a:rPr>
              <a:t>Reconstruction parameters are locked. Every knob changes how smooth a surface looks, so per-figure tuning would disguise itself as model improvement.</a:t>
            </a:r>
          </a:p>
        </p:txBody>
      </p:sp>
      <p:pic>
        <p:nvPicPr>
          <p:cNvPr id="5" name="Picture 4" descr="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097" y="1234440"/>
            <a:ext cx="6341165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4114800"/>
            <a:ext cx="5669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B73B1F"/>
                </a:solidFill>
                <a:latin typeface="Calibri"/>
              </a:rPr>
              <a:t>What a mesh cannot show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These two surfaces look alike, and the measurements agree. The real difference between my models is in how the points are distributed — which a shaded surface hides completely.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5B6673"/>
                </a:solidFill>
                <a:latin typeface="Calibri"/>
              </a:rPr>
              <a:t>That is why the diagnostics from here on are point clouds, not meshes.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F2A37"/>
                </a:solidFill>
                <a:latin typeface="Calibri"/>
              </a:rPr>
              <a:t>Change of direction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55680" cy="9525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The original plan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Add a smoothness penalty — the predicted surface looked bumpy in the renders. I measured it first, and three things argued against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1F2A37"/>
                </a:solidFill>
                <a:latin typeface="Calibri"/>
              </a:rPr>
              <a:t>1.  No measurable difference to exploit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B6673"/>
                </a:solidFill>
                <a:latin typeface="Calibri"/>
              </a:rPr>
              <a:t>Local roughness came out at 0.736 for ground truth against 0.760 for the prediction.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F2A37"/>
                </a:solidFill>
                <a:latin typeface="Calibri"/>
              </a:rPr>
              <a:t>2.  The measurement itself is unreliable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B6673"/>
                </a:solidFill>
                <a:latin typeface="Calibri"/>
              </a:rPr>
              <a:t>A skull is a thin shell, inner and outer surfaces 5–7 mm apart, and a local surface fit cannot tell that apart from real roughness. Without a trustworthy measure I could not have judged whether the change helped.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F2A37"/>
                </a:solidFill>
                <a:latin typeface="Calibri"/>
              </a:rPr>
              <a:t>3.  Overdoing it would cost accuracy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B6673"/>
                </a:solidFill>
                <a:latin typeface="Calibri"/>
              </a:rPr>
              <a:t>Pushing past the ground truth's own smoothness makes the prediction smoother than the target, which the distance metrics count as error.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B73B1F"/>
                </a:solidFill>
                <a:latin typeface="Calibri"/>
              </a:rPr>
              <a:t>What the data pointed at instead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Point spacing. 12.8% of predicted points sit within 2 mm of a neighbour; ground truth, being farthest-point sampled, has none at all.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2514600"/>
          <a:ext cx="512064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prediction</a:t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ground truth</a:t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points closer than 2 mm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12.8%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spacing CV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0.389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0.145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3749039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Those clumped points are wasted — they cover no surface a neighbour does not already cover. Unlike roughness this is unambiguous, and it is what the rest of this work goes after.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565C0"/>
                </a:solidFill>
                <a:latin typeface="Calibri"/>
              </a:rPr>
              <a:t>Worth noting in advance: fixing the density also improved the surface. Deviation p95 fell from 6.56 to 5.59 mm without any smoothness term at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F2A37"/>
                </a:solidFill>
                <a:latin typeface="Calibri"/>
              </a:rPr>
              <a:t>Loss experiments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55680" cy="9525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What I tried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>
                <a:solidFill>
                  <a:srgbClr val="1F2A37"/>
                </a:solidFill>
                <a:latin typeface="Calibri"/>
              </a:rPr>
              <a:t>The obvious response is to lean harder on DCD — the density-aware loss the original project trains with. It has two knobs, and I swept both.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514600"/>
          <a:ext cx="53949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28016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CD_t</a:t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clumped</a:t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CV</a:t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7.22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12.8%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0.389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weight 1→3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7.59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10.0%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0.370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lambda 1→2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7.03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12.5%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0.386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16052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1F2A37"/>
                </a:solidFill>
                <a:latin typeface="Calibri"/>
              </a:rPr>
              <a:t>Raising the weight buys density at a poor rate — 2.8 points of clumping for 0.37 mm of accuracy, and 10% is still far from 0%. Raising lambda, which targets density specifically, moves it almost not at all.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5B6673"/>
                </a:solidFill>
                <a:latin typeface="Calibri"/>
              </a:rPr>
              <a:t>Both were dead ends. The question is whether I swept them badly, or whether the loss simply cannot do this.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73B1F"/>
                </a:solidFill>
                <a:latin typeface="Calibri"/>
              </a:rPr>
              <a:t>Why it could never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DCD  =  1 − exp(−α·d) · 1 / count^λ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The density part of DCD works by counting how many ground-truth points end up assigned to the same prediction. A count is a whole number: nudge a point slightly and it usually does not change at all. So it tells the optimiser nothing about which direction to move — the gradient is not small, it is absent. I checked, and TensorFlow returns nothing for it.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F2A37"/>
                </a:solidFill>
                <a:latin typeface="Calibri"/>
              </a:rPr>
              <a:t>DCD can therefore make Chamfer care more about some points than others, but it can never push two predictions apart.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It is also blind to the most common case: two predictions sitting on top of each other, each claimed by a different ground-truth point. Both counts are 1, so nothing is charged.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Repulsion  =  max(0, r₀ − d)²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B73B1F"/>
                </a:solidFill>
                <a:latin typeface="Calibri"/>
              </a:rPr>
              <a:t>If two predicted points are closer than r₀, push them apart; once they are r₀ apart, do nothing. That is the force DCD structurally lacks — so the two are not redundant.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F2A37"/>
                </a:solidFill>
                <a:latin typeface="Calibri"/>
              </a:rPr>
              <a:t>What worked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55680" cy="9525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419" y="1051560"/>
            <a:ext cx="8490857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3611880"/>
            <a:ext cx="5577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1565C0"/>
                </a:solidFill>
                <a:latin typeface="Calibri"/>
              </a:rPr>
              <a:t>A configuration bug, not loss design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A37"/>
                </a:solidFill>
                <a:latin typeface="Calibri"/>
              </a:rPr>
              <a:t>The learning-rate scheduler and early stopping both watch validation loss, but the scheduler's patience was 40 against early stopping's 20 — so training always ended first and the learning rate had never once been reduced, in any experiment.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5B6673"/>
                </a:solidFill>
                <a:latin typeface="Calibri"/>
              </a:rPr>
              <a:t>Fixing it: CD_t 7.22 → 6.40 mm, training runs to 279 epochs instead of 133. The dotted lines mark each drop.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361188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1565C0"/>
                </a:solidFill>
                <a:latin typeface="Calibri"/>
              </a:rPr>
              <a:t>Repulsion loss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A37"/>
                </a:solidFill>
                <a:latin typeface="Calibri"/>
              </a:rPr>
              <a:t>Points closer than 2 mm to each other get pushed apart, and the penalty switches off entirely once they are far enough — so it stops competing with Chamfer rather than pushing indefinitely. The 2 mm threshold was read off the ground truth's own spacing.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5B6673"/>
                </a:solidFill>
                <a:latin typeface="Calibri"/>
              </a:rPr>
              <a:t>Attribution: a third run with the learning-rate fix but no repulsion separates the two. All of the CD_t gain is the learning rate — 6.40 against 6.41. Repulsion contributes density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F2A37"/>
                </a:solidFill>
                <a:latin typeface="Calibri"/>
              </a:rPr>
              <a:t>Density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55680" cy="9525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Colour is nearest-neighbour spacing, dark meaning points on top of each other. One colour scale across all four panels — auto-scaling each panel to its own data would render a 12.8% clump rate and a 1.4% one identically.</a:t>
            </a:r>
          </a:p>
        </p:txBody>
      </p:sp>
      <p:pic>
        <p:nvPicPr>
          <p:cNvPr id="5" name="Picture 4" descr="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340" y="1828800"/>
            <a:ext cx="9867014" cy="2651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80160" y="4709160"/>
          <a:ext cx="9601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10312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clumped &lt;2 mm</a:t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spacing CV</a:t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CD_t (mm)</a:t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12.8%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0.389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7.22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+ learning-rate fix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5.6%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0.297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6.40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65C0"/>
                          </a:solidFill>
                          <a:latin typeface="Calibri"/>
                        </a:rPr>
                        <a:t>+ repulsion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565C0"/>
                          </a:solidFill>
                          <a:latin typeface="Calibri"/>
                        </a:rPr>
                        <a:t>1.4%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565C0"/>
                          </a:solidFill>
                          <a:latin typeface="Calibri"/>
                        </a:rPr>
                        <a:t>0.238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565C0"/>
                          </a:solidFill>
                          <a:latin typeface="Calibri"/>
                        </a:rPr>
                        <a:t>6.41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ground truth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0.145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280160" y="6080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5B6673"/>
                </a:solidFill>
                <a:latin typeface="Calibri"/>
              </a:rPr>
              <a:t>Clumping falls to 1.4% against ground truth's 0.0%, at no accuracy cost — CD_t is unchanged within run-to-run variance. Repulsion is a density component, and I will describe it as one rather than as a general improvement.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F2A37"/>
                </a:solidFill>
                <a:latin typeface="Calibri"/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55680" cy="9525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5B6673"/>
                </a:solidFill>
                <a:latin typeface="Calibri"/>
              </a:rPr>
              <a:t>20 validation skulls; millimetres converted with each skull's own scale. HD95 is the 95th-percentile error — Chamfer is a mean and averages away a single bad region, which for implant design is exactly what matters.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87678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66444"/>
                <a:gridCol w="1266444"/>
                <a:gridCol w="1266444"/>
                <a:gridCol w="1266444"/>
                <a:gridCol w="1266444"/>
                <a:gridCol w="1266444"/>
                <a:gridCol w="1266444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CD_t (mm)</a:t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HD95 (mm)</a:t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F1@0.05</a:t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F1@0.03</a:t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DCD</a:t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clumped&lt;2mm</a:t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spacing CV</a:t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7.220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7.244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0.862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0.462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0.856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12.85%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0.389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dcd_w3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7.595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8.122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0.835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0.435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0.879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10.04%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0.370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dcd_l2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7.031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7.155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0.876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0.476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0.847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12.47%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0.386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lr_fix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6.400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6.205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0.927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0.556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0.693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5.60%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0.297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65C0"/>
                          </a:solidFill>
                          <a:latin typeface="Calibri"/>
                        </a:rPr>
                        <a:t>rep_w05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565C0"/>
                          </a:solidFill>
                          <a:latin typeface="Calibri"/>
                        </a:rPr>
                        <a:t>6.409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565C0"/>
                          </a:solidFill>
                          <a:latin typeface="Calibri"/>
                        </a:rPr>
                        <a:t>6.205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565C0"/>
                          </a:solidFill>
                          <a:latin typeface="Calibri"/>
                        </a:rPr>
                        <a:t>0.928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565C0"/>
                          </a:solidFill>
                          <a:latin typeface="Calibri"/>
                        </a:rPr>
                        <a:t>0.556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565C0"/>
                          </a:solidFill>
                          <a:latin typeface="Calibri"/>
                        </a:rPr>
                        <a:t>0.676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565C0"/>
                          </a:solidFill>
                          <a:latin typeface="Calibri"/>
                        </a:rPr>
                        <a:t>1.36%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565C0"/>
                          </a:solidFill>
                          <a:latin typeface="Calibri"/>
                        </a:rPr>
                        <a:t>0.238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ground truth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0.145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7033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1F2A37"/>
                </a:solidFill>
                <a:latin typeface="Calibri"/>
              </a:rPr>
              <a:t>F-score against the source paper — same metric definition, different datasets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4114800"/>
          <a:ext cx="108813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297680"/>
                <a:gridCol w="173736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training data</a:t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F1@0.05</a:t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F1@0.03</a:t>
                      </a:r>
                    </a:p>
                  </a:txBody>
                  <a:tcPr marL="54864" marR="54864" marT="9144" marB="9144">
                    <a:solidFill>
                      <a:srgbClr val="EF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Source paper, Table 1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200,000 clouds / 240 classes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0.937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0.741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65C0"/>
                          </a:solidFill>
                          <a:latin typeface="Calibri"/>
                        </a:rPr>
                        <a:t>This work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565C0"/>
                          </a:solidFill>
                          <a:latin typeface="Calibri"/>
                        </a:rPr>
                        <a:t>80 skulls / 1 class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565C0"/>
                          </a:solidFill>
                          <a:latin typeface="Calibri"/>
                        </a:rPr>
                        <a:t>0.928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565C0"/>
                          </a:solidFill>
                          <a:latin typeface="Calibri"/>
                        </a:rPr>
                        <a:t>0.556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Source paper, Table 2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4,800 shapes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0.892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0.623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235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At the loose threshold this sits between their full model and their small-data run, with three orders of magnitude less training data; at the strict threshold it is behind both, which is where the remaining work is.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673"/>
                </a:solidFill>
                <a:latin typeface="Calibri"/>
              </a:rPr>
              <a:t>DCD and F-score are comparable across projects because definitions and normalisation match. Chamfer is not — under this codebase's definition the paper's CD would fall 35× below the point spacing, so they are almost certainly using a squared-distance variant. I do not put those side by side.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F2A37"/>
                </a:solidFill>
                <a:latin typeface="Calibri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55680" cy="9525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1565C0"/>
                </a:solidFill>
                <a:latin typeface="Calibri"/>
              </a:rPr>
              <a:t>Planned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37"/>
                </a:solidFill>
                <a:latin typeface="Calibri"/>
              </a:rPr>
              <a:t>1.  Ablate DCD away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B6673"/>
                </a:solidFill>
                <a:latin typeface="Calibri"/>
              </a:rPr>
              <a:t>Density is handled by repulsion, the hyper-parameter experiments produced nothing, and the mechanism explains why. If removing it changes nothing, three losses collapse to two — a cleaner result than stacking terms.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37"/>
                </a:solidFill>
                <a:latin typeface="Calibri"/>
              </a:rPr>
              <a:t>2.  k-fold cross-validation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B6673"/>
                </a:solidFill>
                <a:latin typeface="Calibri"/>
              </a:rPr>
              <a:t>Every number here is a single 20-skull split. The code is in place and has never been run; this has to happen before anything is written up.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37"/>
                </a:solidFill>
                <a:latin typeface="Calibri"/>
              </a:rPr>
              <a:t>3.  Defect-region-restricted metrics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B6673"/>
                </a:solidFill>
                <a:latin typeface="Calibri"/>
              </a:rPr>
              <a:t>Most of the skull is already in the input, so current metrics are diluted by how well the model reproduces what it was handed. Evaluation-side change only — no retraining.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5B6673"/>
                </a:solidFill>
                <a:latin typeface="Calibri"/>
              </a:rPr>
              <a:t>Under consideration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37"/>
                </a:solidFill>
                <a:latin typeface="Calibri"/>
              </a:rPr>
              <a:t>Focus the model on the defect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B6673"/>
                </a:solidFill>
                <a:latin typeface="Calibri"/>
              </a:rPr>
              <a:t>The dataset ships implant labels I have never used. Training on them directly puts all capacity on the hard part and matches the AutoImplant protocol — but it is a large change and breaks comparability with everything so far.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37"/>
                </a:solidFill>
                <a:latin typeface="Calibri"/>
              </a:rPr>
              <a:t>Point-to-plane attraction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B6673"/>
                </a:solidFill>
                <a:latin typeface="Calibri"/>
              </a:rPr>
              <a:t>Another route to the smoothness goal. Chamfer pulls each prediction toward a discrete sample, which lets points scatter either side of the true surface; pulling toward a fitted local plane removes that. Orthogonal to repulsion, verifiable with existing tools.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37"/>
                </a:solidFill>
                <a:latin typeface="Calibri"/>
              </a:rPr>
              <a:t>Poisson reconstruction control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B6673"/>
                </a:solidFill>
                <a:latin typeface="Calibri"/>
              </a:rPr>
              <a:t>The current visualisation is deliberately robust to uneven density, so it cannot show why density matters clinically. Poisson is not — running it would connect the metric to usability.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