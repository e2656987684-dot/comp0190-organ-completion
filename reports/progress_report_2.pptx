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Calibri"/>
              </a:rPr>
              <a:t>Where things stand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55680" cy="9525"/>
          </a:xfrm>
          <a:prstGeom prst="rect">
            <a:avLst/>
          </a:prstGeom>
          <a:solidFill>
            <a:srgbClr val="D5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5852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2A37"/>
                </a:solidFill>
                <a:latin typeface="Calibri"/>
              </a:rPr>
              <a:t>The task</a:t>
            </a:r>
          </a:p>
          <a:p>
            <a:pPr algn="l">
              <a:spcAft>
                <a:spcPts val="1600"/>
              </a:spcAft>
            </a:pPr>
            <a:r>
              <a:rPr sz="1550" b="0">
                <a:solidFill>
                  <a:srgbClr val="1F2A37"/>
                </a:solidFill>
                <a:latin typeface="Calibri"/>
              </a:rPr>
              <a:t>4,096 points of a defective skull in, 6,144 points of a complete skull out. SkullFix, 80 train / 20 validation, the same split throughout so runs stay comparable.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F2A37"/>
                </a:solidFill>
                <a:latin typeface="Calibri"/>
              </a:rPr>
              <a:t>Reported in millimetres</a:t>
            </a:r>
          </a:p>
          <a:p>
            <a:pPr algn="l">
              <a:spcAft>
                <a:spcPts val="1000"/>
              </a:spcAft>
            </a:pPr>
            <a:r>
              <a:rPr sz="1550" b="0">
                <a:solidFill>
                  <a:srgbClr val="1F2A37"/>
                </a:solidFill>
                <a:latin typeface="Calibri"/>
              </a:rPr>
              <a:t>Every cloud carries its own scale factor, so Chamfer and Hausdorff are converted back to mm rather than left in normalised units.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132588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F2A37"/>
                </a:solidFill>
                <a:latin typeface="Calibri"/>
              </a:rPr>
              <a:t>Since the last report</a:t>
            </a:r>
          </a:p>
          <a:p>
            <a:pPr algn="l">
              <a:spcAft>
                <a:spcPts val="900"/>
              </a:spcAft>
            </a:pPr>
            <a:r>
              <a:rPr sz="1550" b="0">
                <a:solidFill>
                  <a:srgbClr val="1F2A37"/>
                </a:solidFill>
                <a:latin typeface="Calibri"/>
              </a:rPr>
              <a:t>1.  Completed the loss ablation that was left open</a:t>
            </a:r>
          </a:p>
          <a:p>
            <a:pPr algn="l">
              <a:spcAft>
                <a:spcPts val="900"/>
              </a:spcAft>
            </a:pPr>
            <a:r>
              <a:rPr sz="1550" b="0">
                <a:solidFill>
                  <a:srgbClr val="1F2A37"/>
                </a:solidFill>
                <a:latin typeface="Calibri"/>
              </a:rPr>
              <a:t>2.  Added metrics restricted to the defect region</a:t>
            </a:r>
          </a:p>
          <a:p>
            <a:pPr algn="l">
              <a:spcAft>
                <a:spcPts val="900"/>
              </a:spcAft>
            </a:pPr>
            <a:r>
              <a:rPr sz="1550" b="0">
                <a:solidFill>
                  <a:srgbClr val="1F2A37"/>
                </a:solidFill>
                <a:latin typeface="Calibri"/>
              </a:rPr>
              <a:t>3.  Measured which parts of the network are actually used</a:t>
            </a:r>
          </a:p>
          <a:p>
            <a:pPr algn="l">
              <a:spcAft>
                <a:spcPts val="900"/>
              </a:spcAft>
            </a:pPr>
            <a:r>
              <a:rPr sz="1550" b="0">
                <a:solidFill>
                  <a:srgbClr val="1F2A37"/>
                </a:solidFill>
                <a:latin typeface="Calibri"/>
              </a:rPr>
              <a:t>4.  Started the thesis, and started cross-validation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Calibri"/>
              </a:rPr>
              <a:t>Loss ablation: is DCD still needed?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55680" cy="9525"/>
          </a:xfrm>
          <a:prstGeom prst="rect">
            <a:avLst/>
          </a:prstGeom>
          <a:solidFill>
            <a:srgbClr val="D5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50" b="0">
                <a:solidFill>
                  <a:srgbClr val="1F2A37"/>
                </a:solidFill>
                <a:latin typeface="Calibri"/>
              </a:rPr>
              <a:t>Repulsion is a hinge penalty on each point's nearest neighbours — it pushes any pair closer than 2 mm apart, and is normalised by that radius so the weight means the same thing at any scale. It fixed the clumping, which left the question: with repulsion in place, does the paper's density-aware loss (DCD) still contribute?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788920"/>
          <a:ext cx="1033272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3017520"/>
                <a:gridCol w="301752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A37"/>
                          </a:solidFill>
                          <a:latin typeface="Calibri"/>
                        </a:rPr>
                        <a:t>Chamfer distance / points closer than 2 mm</a:t>
                      </a:r>
                    </a:p>
                  </a:txBody>
                  <a:tcPr marL="73152" marR="73152" marT="18288" marB="18288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A37"/>
                          </a:solidFill>
                          <a:latin typeface="Calibri"/>
                        </a:rPr>
                        <a:t>no repulsion</a:t>
                      </a:r>
                    </a:p>
                  </a:txBody>
                  <a:tcPr marL="73152" marR="73152" marT="18288" marB="18288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A37"/>
                          </a:solidFill>
                          <a:latin typeface="Calibri"/>
                        </a:rPr>
                        <a:t>with repulsion</a:t>
                      </a:r>
                    </a:p>
                  </a:txBody>
                  <a:tcPr marL="73152" marR="73152" marT="18288" marB="18288">
                    <a:solidFill>
                      <a:srgbClr val="EFF3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A37"/>
                          </a:solidFill>
                          <a:latin typeface="Calibri"/>
                        </a:rPr>
                        <a:t>with DCD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6.40 mm  /  5.6 %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6.41 mm  /  1.4 %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A37"/>
                          </a:solidFill>
                          <a:latin typeface="Calibri"/>
                        </a:rPr>
                        <a:t>no DCD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6.43 mm  /  13.6 %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65C0"/>
                          </a:solidFill>
                          <a:latin typeface="Calibri"/>
                        </a:rPr>
                        <a:t>6.36 mm  /  1.3 %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4348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F2A37"/>
                </a:solidFill>
                <a:latin typeface="Calibri"/>
              </a:rPr>
              <a:t>Chamfer + repulsion wins, and it is the simplest of the four.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F2A37"/>
                </a:solidFill>
                <a:latin typeface="Calibri"/>
              </a:rPr>
              <a:t>•  Repeating a run with identical settings moves Chamfer distance by 0.004 mm, so the 0.07 mm spread across this table is real and not noise.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F2A37"/>
                </a:solidFill>
                <a:latin typeface="Calibri"/>
              </a:rPr>
              <a:t>•  DCD alone does work — clumping 13.6 % → 5.6 % — but repulsion reaches 1.3 % on its own, and stacking the two gains nothing.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F2A37"/>
                </a:solidFill>
                <a:latin typeface="Calibri"/>
              </a:rPr>
              <a:t>•  Accuracy is flat across all four. Density and accuracy are being controlled by different things.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Calibri"/>
              </a:rPr>
              <a:t>Scoring inside the defect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55680" cy="9525"/>
          </a:xfrm>
          <a:prstGeom prst="rect">
            <a:avLst/>
          </a:prstGeom>
          <a:solidFill>
            <a:srgbClr val="D5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50" b="0">
                <a:solidFill>
                  <a:srgbClr val="1F2A37"/>
                </a:solidFill>
                <a:latin typeface="Calibri"/>
              </a:rPr>
              <a:t>A whole-cloud score is dominated by the intact skull, which the model can copy from its input. To score the part that matters, a ground-truth point counts as "in the defect" when the nearest input point is more than 5 mm away. That threshold sits in the valley of a clearly bimodal distance distribution, and selects about 6 % of the ground-truth points.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37360" y="2880360"/>
          <a:ext cx="8686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2377440"/>
                <a:gridCol w="237744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A37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 marL="73152" marR="73152" marT="18288" marB="18288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A37"/>
                          </a:solidFill>
                          <a:latin typeface="Calibri"/>
                        </a:rPr>
                        <a:t>defect coverage</a:t>
                      </a:r>
                    </a:p>
                  </a:txBody>
                  <a:tcPr marL="73152" marR="73152" marT="18288" marB="18288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A37"/>
                          </a:solidFill>
                          <a:latin typeface="Calibri"/>
                        </a:rPr>
                        <a:t>defect precision</a:t>
                      </a:r>
                    </a:p>
                  </a:txBody>
                  <a:tcPr marL="73152" marR="73152" marT="18288" marB="18288">
                    <a:solidFill>
                      <a:srgbClr val="EFF3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A37"/>
                          </a:solidFill>
                          <a:latin typeface="Calibri"/>
                        </a:rPr>
                        <a:t>Chamfer only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3.44 mm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2.93 mm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A37"/>
                          </a:solidFill>
                          <a:latin typeface="Calibri"/>
                        </a:rPr>
                        <a:t>Chamfer + DCD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3.25 mm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2.89 mm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A37"/>
                          </a:solidFill>
                          <a:latin typeface="Calibri"/>
                        </a:rPr>
                        <a:t>Chamfer + DCD + repulsion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3.41 mm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2.96 mm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A37"/>
                          </a:solidFill>
                          <a:latin typeface="Calibri"/>
                        </a:rPr>
                        <a:t>Chamfer + repulsion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65C0"/>
                          </a:solidFill>
                          <a:latin typeface="Calibri"/>
                        </a:rPr>
                        <a:t>3.24 mm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2.91 mm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84632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1F2A37"/>
                </a:solidFill>
                <a:latin typeface="Calibri"/>
              </a:rPr>
              <a:t>•  Improvements are larger inside the hole (−17 %) than over the whole skull (−12 %), so the changes are helping where the problem is hard.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F2A37"/>
                </a:solidFill>
                <a:latin typeface="Calibri"/>
              </a:rPr>
              <a:t>•  Coverage separates the configurations; precision sits at 2.89–2.96 mm for all of them and tells you nothing. Coverage is the metric to 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Calibri"/>
              </a:rPr>
              <a:t>A look inside the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55680" cy="9525"/>
          </a:xfrm>
          <a:prstGeom prst="rect">
            <a:avLst/>
          </a:prstGeom>
          <a:solidFill>
            <a:srgbClr val="D5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1F2A37"/>
                </a:solidFill>
                <a:latin typeface="Calibri"/>
              </a:rPr>
              <a:t>Does the attention actually do anything?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1565C0"/>
                </a:solidFill>
                <a:latin typeface="Calibri"/>
              </a:rPr>
              <a:t>16</a:t>
            </a:r>
          </a:p>
          <a:p>
            <a:pPr algn="l">
              <a:spcAft>
                <a:spcPts val="2200"/>
              </a:spcAft>
            </a:pPr>
            <a:r>
              <a:rPr sz="1500" b="0">
                <a:solidFill>
                  <a:srgbClr val="5B6673"/>
                </a:solidFill>
                <a:latin typeface="Calibri"/>
              </a:rPr>
              <a:t>attention blocks in the network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1F2A37"/>
                </a:solidFill>
                <a:latin typeface="Calibri"/>
              </a:rPr>
              <a:t>✗   12 of them  →  every point gets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Calibri"/>
              </a:rPr>
              <a:t>      the same weight</a:t>
            </a:r>
          </a:p>
          <a:p>
            <a:pPr algn="l">
              <a:spcAft>
                <a:spcPts val="1600"/>
              </a:spcAft>
            </a:pPr>
            <a:r>
              <a:rPr sz="1400" b="0">
                <a:solidFill>
                  <a:srgbClr val="5B6673"/>
                </a:solidFill>
                <a:latin typeface="Calibri"/>
              </a:rPr>
              <a:t>      = an averaging step, not attention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1F2A37"/>
                </a:solidFill>
                <a:latin typeface="Calibri"/>
              </a:rPr>
              <a:t>✓   4 of them  →  really do focus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1F2A37"/>
                </a:solidFill>
                <a:latin typeface="Calibri"/>
              </a:rPr>
              <a:t>      on particular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205740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1">
                <a:solidFill>
                  <a:srgbClr val="1F2A37"/>
                </a:solidFill>
                <a:latin typeface="Calibri"/>
              </a:rPr>
              <a:t>So what?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→   I tried adding more attention.</a:t>
            </a:r>
          </a:p>
          <a:p>
            <a:pPr algn="l">
              <a:spcAft>
                <a:spcPts val="1600"/>
              </a:spcAft>
            </a:pPr>
            <a:r>
              <a:rPr sz="1600" b="1">
                <a:solidFill>
                  <a:srgbClr val="1F2A37"/>
                </a:solidFill>
                <a:latin typeface="Calibri"/>
              </a:rPr>
              <a:t>      Results got worse.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→   Now I know why, so I am not</a:t>
            </a:r>
          </a:p>
          <a:p>
            <a:pPr algn="l">
              <a:spcAft>
                <a:spcPts val="16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      spending more time there.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→   Effort goes to the loss functions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      and the evaluation instead.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Calibri"/>
              </a:rPr>
              <a:t>Thesis outline  (1 /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55680" cy="9525"/>
          </a:xfrm>
          <a:prstGeom prst="rect">
            <a:avLst/>
          </a:prstGeom>
          <a:solidFill>
            <a:srgbClr val="D5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F2A37"/>
                </a:solidFill>
                <a:latin typeface="Calibri"/>
              </a:rPr>
              <a:t>Point-Cloud Completion of Cranial Defects:</a:t>
            </a:r>
          </a:p>
          <a:p>
            <a:pPr algn="l">
              <a:spcAft>
                <a:spcPts val="0"/>
              </a:spcAft>
            </a:pPr>
            <a:r>
              <a:rPr sz="2100" b="1">
                <a:solidFill>
                  <a:srgbClr val="1565C0"/>
                </a:solidFill>
                <a:latin typeface="Calibri"/>
              </a:rPr>
              <a:t>Density-Aware Losses and Defect-Region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1460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F2A37"/>
                </a:solidFill>
                <a:latin typeface="Calibri"/>
              </a:rPr>
              <a:t>1.  Introduction</a:t>
            </a:r>
          </a:p>
          <a:p>
            <a:pPr algn="l">
              <a:spcAft>
                <a:spcPts val="1600"/>
              </a:spcAft>
            </a:pPr>
            <a:r>
              <a:rPr sz="1500" b="0">
                <a:solidFill>
                  <a:srgbClr val="1F2A37"/>
                </a:solidFill>
                <a:latin typeface="Calibri"/>
              </a:rPr>
              <a:t>Cranial implant design and why it is done by hand today. Why a point cloud rather than a voxel grid, and what that choice costs.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F2A37"/>
                </a:solidFill>
                <a:latin typeface="Calibri"/>
              </a:rPr>
              <a:t>2.  Background</a:t>
            </a:r>
          </a:p>
          <a:p>
            <a:pPr algn="l">
              <a:spcAft>
                <a:spcPts val="1600"/>
              </a:spcAft>
            </a:pPr>
            <a:r>
              <a:rPr sz="1500" b="0">
                <a:solidFill>
                  <a:srgbClr val="1F2A37"/>
                </a:solidFill>
                <a:latin typeface="Calibri"/>
              </a:rPr>
              <a:t>Point-cloud completion from PCN onwards, transformer-based methods, and the multimodal model this work builds on. The datasets in this area and their sizes.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F2A37"/>
                </a:solidFill>
                <a:latin typeface="Calibri"/>
              </a:rPr>
              <a:t>3.  Method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1F2A37"/>
                </a:solidFill>
                <a:latin typeface="Calibri"/>
              </a:rPr>
              <a:t>The architecture as reimplemented here, the data pipeline from meshes to aligned point clouds, and how the training setup differs from the published 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Calibri"/>
              </a:rPr>
              <a:t>Thesis outline  (2 /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55680" cy="9525"/>
          </a:xfrm>
          <a:prstGeom prst="rect">
            <a:avLst/>
          </a:prstGeom>
          <a:solidFill>
            <a:srgbClr val="D5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F2A37"/>
                </a:solidFill>
                <a:latin typeface="Calibri"/>
              </a:rPr>
              <a:t>4.  Evaluation protocol</a:t>
            </a:r>
          </a:p>
          <a:p>
            <a:pPr algn="l">
              <a:spcAft>
                <a:spcPts val="1300"/>
              </a:spcAft>
            </a:pPr>
            <a:r>
              <a:rPr sz="1500" b="0">
                <a:solidFill>
                  <a:srgbClr val="1F2A37"/>
                </a:solidFill>
                <a:latin typeface="Calibri"/>
              </a:rPr>
              <a:t>The metrics used and why. The defect-region metrics and how the region is defined. What the point-cloud representation itself limits, and why the numbers here cannot be placed next to published voxel-domain ones.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F2A37"/>
                </a:solidFill>
                <a:latin typeface="Calibri"/>
              </a:rPr>
              <a:t>5.  Loss functions</a:t>
            </a:r>
          </a:p>
          <a:p>
            <a:pPr algn="l">
              <a:spcAft>
                <a:spcPts val="1300"/>
              </a:spcAft>
            </a:pPr>
            <a:r>
              <a:rPr sz="1500" b="0">
                <a:solidFill>
                  <a:srgbClr val="1F2A37"/>
                </a:solidFill>
                <a:latin typeface="Calibri"/>
              </a:rPr>
              <a:t>The point-density problem, the repulsion term, and the ablation that settles which loss terms are needed and which can be dropped.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F2A37"/>
                </a:solidFill>
                <a:latin typeface="Calibri"/>
              </a:rPr>
              <a:t>6.  Model behaviour</a:t>
            </a:r>
          </a:p>
          <a:p>
            <a:pPr algn="l">
              <a:spcAft>
                <a:spcPts val="1300"/>
              </a:spcAft>
            </a:pPr>
            <a:r>
              <a:rPr sz="1500" b="0">
                <a:solidFill>
                  <a:srgbClr val="1F2A37"/>
                </a:solidFill>
                <a:latin typeface="Calibri"/>
              </a:rPr>
              <a:t>A short chapter on which parts of the network are actually being used, and what that implies for where effort is worth spending.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F2A37"/>
                </a:solidFill>
                <a:latin typeface="Calibri"/>
              </a:rPr>
              <a:t>7.  Discussion</a:t>
            </a:r>
          </a:p>
          <a:p>
            <a:pPr algn="l">
              <a:spcAft>
                <a:spcPts val="1300"/>
              </a:spcAft>
            </a:pPr>
            <a:r>
              <a:rPr sz="1500" b="0">
                <a:solidFill>
                  <a:srgbClr val="1F2A37"/>
                </a:solidFill>
                <a:latin typeface="Calibri"/>
              </a:rPr>
              <a:t>What the results say about this class of model on data of this size, and how the findings would transfer.</a:t>
            </a:r>
          </a:p>
          <a:p>
            <a:pPr algn="l">
              <a:spcAft>
                <a:spcPts val="0"/>
              </a:spcAft>
            </a:pPr>
            <a:r>
              <a:rPr sz="1700" b="1">
                <a:solidFill>
                  <a:srgbClr val="1F2A37"/>
                </a:solidFill>
                <a:latin typeface="Calibri"/>
              </a:rPr>
              <a:t>8.  Conclusion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Calibri"/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55680" cy="9525"/>
          </a:xfrm>
          <a:prstGeom prst="rect">
            <a:avLst/>
          </a:prstGeom>
          <a:solidFill>
            <a:srgbClr val="D5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A37"/>
                </a:solidFill>
                <a:latin typeface="Calibri"/>
              </a:rPr>
              <a:t>Cross-validation is running.</a:t>
            </a:r>
          </a:p>
          <a:p>
            <a:pPr algn="l">
              <a:spcAft>
                <a:spcPts val="1600"/>
              </a:spcAft>
            </a:pPr>
            <a:r>
              <a:rPr sz="1550" b="0">
                <a:solidFill>
                  <a:srgbClr val="1F2A37"/>
                </a:solidFill>
                <a:latin typeface="Calibri"/>
              </a:rPr>
              <a:t>Longer than a single run would take: the ablation left several configurations to cover, and I have moved to a larger dataset.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A37"/>
                </a:solidFill>
                <a:latin typeface="Calibri"/>
              </a:rPr>
              <a:t>Writing has started.</a:t>
            </a:r>
          </a:p>
          <a:p>
            <a:pPr algn="l">
              <a:spcAft>
                <a:spcPts val="1600"/>
              </a:spcAft>
            </a:pPr>
            <a:r>
              <a:rPr sz="1550" b="0">
                <a:solidFill>
                  <a:srgbClr val="1F2A37"/>
                </a:solidFill>
                <a:latin typeface="Calibri"/>
              </a:rPr>
              <a:t>On the parts that are already settled and will not change.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A37"/>
                </a:solidFill>
                <a:latin typeface="Calibri"/>
              </a:rPr>
              <a:t>Then: a surface-reconstruction comparison.</a:t>
            </a:r>
          </a:p>
          <a:p>
            <a:pPr algn="l">
              <a:spcAft>
                <a:spcPts val="0"/>
              </a:spcAft>
            </a:pPr>
            <a:r>
              <a:rPr sz="1550" b="0">
                <a:solidFill>
                  <a:srgbClr val="1F2A37"/>
                </a:solidFill>
                <a:latin typeface="Calibri"/>
              </a:rPr>
              <a:t>So the point-cloud numbers can be related to the ones clinical work is usually reported 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